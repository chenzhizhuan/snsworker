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72332"/>
            <a:ext cx="12192000" cy="14854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66" y="228600"/>
            <a:ext cx="1395167" cy="609600"/>
          </a:xfrm>
          <a:prstGeom prst="rect">
            <a:avLst/>
          </a:prstGeom>
        </p:spPr>
      </p:pic>
      <p:sp>
        <p:nvSpPr>
          <p:cNvPr id="3" name="cover-title"/>
          <p:cNvSpPr>
            <a:spLocks noGrp="1"/>
          </p:cNvSpPr>
          <p:nvPr/>
        </p:nvSpPr>
        <p:spPr>
          <a:xfrm>
            <a:off x="1428750" y="209550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4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把问题解决好，把方法留下来</a:t>
            </a:r>
            <a:endParaRPr sz="34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2381250" y="3000375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从项目实践到团队成长</a:t>
            </a:r>
            <a:endParaRPr sz="19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ver-presenter"/>
          <p:cNvSpPr>
            <a:spLocks noGrp="1"/>
          </p:cNvSpPr>
          <p:nvPr/>
        </p:nvSpPr>
        <p:spPr>
          <a:xfrm>
            <a:off x="3238500" y="3667125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汇报人｜单位/部门</a:t>
            </a:r>
            <a:endParaRPr sz="1350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cover-page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2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02  汇报对象概况：经历、职责与成果一页看清</a:t>
            </a:r>
            <a:endParaRPr sz="210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2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2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lead-mark-2"/>
          <p:cNvSpPr>
            <a:spLocks noGrp="1"/>
          </p:cNvSpPr>
          <p:nvPr/>
        </p:nvSpPr>
        <p:spPr>
          <a:xfrm>
            <a:off x="342900" y="904875"/>
            <a:ext cx="142875" cy="14287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6" name="lead-2"/>
          <p:cNvSpPr>
            <a:spLocks noGrp="1"/>
          </p:cNvSpPr>
          <p:nvPr/>
        </p:nvSpPr>
        <p:spPr>
          <a:xfrm>
            <a:off x="609600" y="828675"/>
            <a:ext cx="1090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用一页交代与本次汇报最相关的经历、定位和成果，不展开无关个人信息。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2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profile-basic-bg"/>
          <p:cNvSpPr>
            <a:spLocks noGrp="1"/>
          </p:cNvSpPr>
          <p:nvPr/>
        </p:nvSpPr>
        <p:spPr>
          <a:xfrm>
            <a:off x="323850" y="1381125"/>
            <a:ext cx="7000875" cy="9334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9" name="profile-basic-header"/>
          <p:cNvSpPr>
            <a:spLocks noGrp="1"/>
          </p:cNvSpPr>
          <p:nvPr/>
        </p:nvSpPr>
        <p:spPr>
          <a:xfrm>
            <a:off x="438150" y="14668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基本情况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profile-basic-body"/>
          <p:cNvSpPr>
            <a:spLocks noGrp="1"/>
          </p:cNvSpPr>
          <p:nvPr/>
        </p:nvSpPr>
        <p:spPr>
          <a:xfrm>
            <a:off x="495300" y="1790700"/>
            <a:ext cx="66579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1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姓名/团队｜单位/部门｜职责定位</a:t>
            </a:r>
            <a:endParaRPr sz="131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31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仅保留与本次汇报直接相关、可公开使用的信息</a:t>
            </a:r>
            <a:endParaRPr sz="131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career-bg"/>
          <p:cNvSpPr>
            <a:spLocks noGrp="1"/>
          </p:cNvSpPr>
          <p:nvPr/>
        </p:nvSpPr>
        <p:spPr>
          <a:xfrm>
            <a:off x="323850" y="2466975"/>
            <a:ext cx="7000875" cy="3590925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12" name="career-header"/>
          <p:cNvSpPr>
            <a:spLocks noGrp="1"/>
          </p:cNvSpPr>
          <p:nvPr/>
        </p:nvSpPr>
        <p:spPr>
          <a:xfrm>
            <a:off x="438150" y="255270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关键经历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career-date-0"/>
          <p:cNvSpPr>
            <a:spLocks noGrp="1"/>
          </p:cNvSpPr>
          <p:nvPr/>
        </p:nvSpPr>
        <p:spPr>
          <a:xfrm>
            <a:off x="523875" y="2990850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阶段一</a:t>
            </a:r>
            <a:endParaRPr sz="12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career-role-0"/>
          <p:cNvSpPr>
            <a:spLocks noGrp="1"/>
          </p:cNvSpPr>
          <p:nvPr/>
        </p:nvSpPr>
        <p:spPr>
          <a:xfrm>
            <a:off x="1571625" y="29908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业务基础</a:t>
            </a:r>
            <a:endParaRPr sz="1275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career-detail-0"/>
          <p:cNvSpPr>
            <a:spLocks noGrp="1"/>
          </p:cNvSpPr>
          <p:nvPr/>
        </p:nvSpPr>
        <p:spPr>
          <a:xfrm>
            <a:off x="3476625" y="2990850"/>
            <a:ext cx="3571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说明起点岗位、业务基础或主要场景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career-line-1"/>
          <p:cNvSpPr>
            <a:spLocks noGrp="1"/>
          </p:cNvSpPr>
          <p:nvPr/>
        </p:nvSpPr>
        <p:spPr>
          <a:xfrm>
            <a:off x="523875" y="3600450"/>
            <a:ext cx="6572250" cy="9525"/>
          </a:xfrm>
          <a:prstGeom prst="rect">
            <a:avLst/>
          </a:prstGeom>
          <a:solidFill>
            <a:srgbClr val="DDD6CF"/>
          </a:solidFill>
          <a:ln w="0">
            <a:noFill/>
            <a:prstDash val="solid"/>
          </a:ln>
        </p:spPr>
      </p:sp>
      <p:sp>
        <p:nvSpPr>
          <p:cNvPr id="17" name="career-date-1"/>
          <p:cNvSpPr>
            <a:spLocks noGrp="1"/>
          </p:cNvSpPr>
          <p:nvPr/>
        </p:nvSpPr>
        <p:spPr>
          <a:xfrm>
            <a:off x="523875" y="3676650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阶段二</a:t>
            </a:r>
            <a:endParaRPr sz="12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career-role-1"/>
          <p:cNvSpPr>
            <a:spLocks noGrp="1"/>
          </p:cNvSpPr>
          <p:nvPr/>
        </p:nvSpPr>
        <p:spPr>
          <a:xfrm>
            <a:off x="1571625" y="36766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能力拓展</a:t>
            </a:r>
            <a:endParaRPr sz="1275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career-detail-1"/>
          <p:cNvSpPr>
            <a:spLocks noGrp="1"/>
          </p:cNvSpPr>
          <p:nvPr/>
        </p:nvSpPr>
        <p:spPr>
          <a:xfrm>
            <a:off x="3476625" y="3676650"/>
            <a:ext cx="3571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说明职责变化、能力拓展或关键转折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career-line-2"/>
          <p:cNvSpPr>
            <a:spLocks noGrp="1"/>
          </p:cNvSpPr>
          <p:nvPr/>
        </p:nvSpPr>
        <p:spPr>
          <a:xfrm>
            <a:off x="523875" y="4286250"/>
            <a:ext cx="6572250" cy="9525"/>
          </a:xfrm>
          <a:prstGeom prst="rect">
            <a:avLst/>
          </a:prstGeom>
          <a:solidFill>
            <a:srgbClr val="DDD6CF"/>
          </a:solidFill>
          <a:ln w="0">
            <a:noFill/>
            <a:prstDash val="solid"/>
          </a:ln>
        </p:spPr>
      </p:sp>
      <p:sp>
        <p:nvSpPr>
          <p:cNvPr id="21" name="career-date-2"/>
          <p:cNvSpPr>
            <a:spLocks noGrp="1"/>
          </p:cNvSpPr>
          <p:nvPr/>
        </p:nvSpPr>
        <p:spPr>
          <a:xfrm>
            <a:off x="523875" y="4362450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阶段三</a:t>
            </a:r>
            <a:endParaRPr sz="12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career-role-2"/>
          <p:cNvSpPr>
            <a:spLocks noGrp="1"/>
          </p:cNvSpPr>
          <p:nvPr/>
        </p:nvSpPr>
        <p:spPr>
          <a:xfrm>
            <a:off x="1571625" y="43624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重点实践</a:t>
            </a:r>
            <a:endParaRPr sz="1275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career-detail-2"/>
          <p:cNvSpPr>
            <a:spLocks noGrp="1"/>
          </p:cNvSpPr>
          <p:nvPr/>
        </p:nvSpPr>
        <p:spPr>
          <a:xfrm>
            <a:off x="3476625" y="4362450"/>
            <a:ext cx="3571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说明代表性项目、重点任务或核心成果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career-line-3"/>
          <p:cNvSpPr>
            <a:spLocks noGrp="1"/>
          </p:cNvSpPr>
          <p:nvPr/>
        </p:nvSpPr>
        <p:spPr>
          <a:xfrm>
            <a:off x="523875" y="4972050"/>
            <a:ext cx="6572250" cy="9525"/>
          </a:xfrm>
          <a:prstGeom prst="rect">
            <a:avLst/>
          </a:prstGeom>
          <a:solidFill>
            <a:srgbClr val="DDD6CF"/>
          </a:solidFill>
          <a:ln w="0">
            <a:noFill/>
            <a:prstDash val="solid"/>
          </a:ln>
        </p:spPr>
      </p:sp>
      <p:sp>
        <p:nvSpPr>
          <p:cNvPr id="25" name="career-date-3"/>
          <p:cNvSpPr>
            <a:spLocks noGrp="1"/>
          </p:cNvSpPr>
          <p:nvPr/>
        </p:nvSpPr>
        <p:spPr>
          <a:xfrm>
            <a:off x="523875" y="5048250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endParaRPr sz="12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career-role-3"/>
          <p:cNvSpPr>
            <a:spLocks noGrp="1"/>
          </p:cNvSpPr>
          <p:nvPr/>
        </p:nvSpPr>
        <p:spPr>
          <a:xfrm>
            <a:off x="1571625" y="50482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当前定位</a:t>
            </a:r>
            <a:endParaRPr sz="1275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career-detail-3"/>
          <p:cNvSpPr>
            <a:spLocks noGrp="1"/>
          </p:cNvSpPr>
          <p:nvPr/>
        </p:nvSpPr>
        <p:spPr>
          <a:xfrm>
            <a:off x="3476625" y="5048250"/>
            <a:ext cx="3571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说明现阶段职责、重点任务或发展方向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profile-photo-slot-frame"/>
          <p:cNvSpPr>
            <a:spLocks noGrp="1"/>
          </p:cNvSpPr>
          <p:nvPr/>
        </p:nvSpPr>
        <p:spPr>
          <a:xfrm>
            <a:off x="7524750" y="1381125"/>
            <a:ext cx="4019550" cy="2238375"/>
          </a:xfrm>
          <a:prstGeom prst="rect">
            <a:avLst/>
          </a:prstGeom>
          <a:solidFill>
            <a:srgbClr val="F3F5F7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9" name="profile-photo-slot-accent"/>
          <p:cNvSpPr>
            <a:spLocks noGrp="1"/>
          </p:cNvSpPr>
          <p:nvPr/>
        </p:nvSpPr>
        <p:spPr>
          <a:xfrm>
            <a:off x="7524750" y="1381125"/>
            <a:ext cx="57150" cy="223837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0" name="profile-photo-slot-tag"/>
          <p:cNvSpPr>
            <a:spLocks noGrp="1"/>
          </p:cNvSpPr>
          <p:nvPr/>
        </p:nvSpPr>
        <p:spPr>
          <a:xfrm>
            <a:off x="7696200" y="1514475"/>
            <a:ext cx="590550" cy="228600"/>
          </a:xfrm>
          <a:prstGeom prst="rect">
            <a:avLst/>
          </a:prstGeom>
          <a:solidFill>
            <a:srgbClr val="7D8793"/>
          </a:solidFill>
          <a:ln w="0">
            <a:solidFill>
              <a:srgbClr val="7D87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图片位</a:t>
            </a:r>
            <a:endParaRPr sz="9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profile-photo-slot-title"/>
          <p:cNvSpPr>
            <a:spLocks noGrp="1"/>
          </p:cNvSpPr>
          <p:nvPr/>
        </p:nvSpPr>
        <p:spPr>
          <a:xfrm>
            <a:off x="7753350" y="2142173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rPr>
              <a:t>人物 / 项目 / 场景主图</a:t>
            </a:r>
            <a:endParaRPr sz="1350" b="1">
              <a:solidFill>
                <a:srgbClr val="505A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profile-photo-slot-hint"/>
          <p:cNvSpPr>
            <a:spLocks noGrp="1"/>
          </p:cNvSpPr>
          <p:nvPr/>
        </p:nvSpPr>
        <p:spPr>
          <a:xfrm>
            <a:off x="7696200" y="3257550"/>
            <a:ext cx="3676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rPr>
              <a:t>建议使用1张横版真实照片</a:t>
            </a:r>
            <a:endParaRPr sz="975">
              <a:solidFill>
                <a:srgbClr val="7B84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profile-photo-caption"/>
          <p:cNvSpPr>
            <a:spLocks noGrp="1"/>
          </p:cNvSpPr>
          <p:nvPr/>
        </p:nvSpPr>
        <p:spPr>
          <a:xfrm>
            <a:off x="7524750" y="3657600"/>
            <a:ext cx="401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图片用于补充事实，不重复标题和正文</a:t>
            </a:r>
            <a:endParaRPr sz="1090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profile-roles-bg"/>
          <p:cNvSpPr>
            <a:spLocks noGrp="1"/>
          </p:cNvSpPr>
          <p:nvPr/>
        </p:nvSpPr>
        <p:spPr>
          <a:xfrm>
            <a:off x="7524750" y="4048125"/>
            <a:ext cx="4019550" cy="714375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5" name="profile-roles-header"/>
          <p:cNvSpPr>
            <a:spLocks noGrp="1"/>
          </p:cNvSpPr>
          <p:nvPr/>
        </p:nvSpPr>
        <p:spPr>
          <a:xfrm>
            <a:off x="7639050" y="4162425"/>
            <a:ext cx="1143000" cy="2667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职责定位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profile-roles-body"/>
          <p:cNvSpPr>
            <a:spLocks noGrp="1"/>
          </p:cNvSpPr>
          <p:nvPr/>
        </p:nvSpPr>
        <p:spPr>
          <a:xfrm>
            <a:off x="8953500" y="4105275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专业角色｜工作范围</a:t>
            </a:r>
            <a:endParaRPr sz="109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协同关系｜主要职责</a:t>
            </a:r>
            <a:endParaRPr sz="109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profile-honors-bg"/>
          <p:cNvSpPr>
            <a:spLocks noGrp="1"/>
          </p:cNvSpPr>
          <p:nvPr/>
        </p:nvSpPr>
        <p:spPr>
          <a:xfrm>
            <a:off x="7524750" y="4857750"/>
            <a:ext cx="4019550" cy="714375"/>
          </a:xfrm>
          <a:prstGeom prst="rect">
            <a:avLst/>
          </a:prstGeom>
          <a:solidFill>
            <a:srgbClr val="FFF8F2"/>
          </a:solidFill>
          <a:ln w="0">
            <a:noFill/>
            <a:prstDash val="solid"/>
          </a:ln>
        </p:spPr>
      </p:sp>
      <p:sp>
        <p:nvSpPr>
          <p:cNvPr id="38" name="profile-honors-header"/>
          <p:cNvSpPr>
            <a:spLocks noGrp="1"/>
          </p:cNvSpPr>
          <p:nvPr/>
        </p:nvSpPr>
        <p:spPr>
          <a:xfrm>
            <a:off x="7639050" y="4972050"/>
            <a:ext cx="1143000" cy="26670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代表成果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profile-honors-body"/>
          <p:cNvSpPr>
            <a:spLocks noGrp="1"/>
          </p:cNvSpPr>
          <p:nvPr/>
        </p:nvSpPr>
        <p:spPr>
          <a:xfrm>
            <a:off x="8953500" y="4914900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项目成效｜专业认证</a:t>
            </a:r>
            <a:endParaRPr sz="109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客户认可｜团队成果</a:t>
            </a:r>
            <a:endParaRPr sz="109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profile-anchor"/>
          <p:cNvSpPr>
            <a:spLocks noGrp="1"/>
          </p:cNvSpPr>
          <p:nvPr/>
        </p:nvSpPr>
        <p:spPr>
          <a:xfrm>
            <a:off x="7524750" y="5715000"/>
            <a:ext cx="4019550" cy="342900"/>
          </a:xfrm>
          <a:prstGeom prst="rect">
            <a:avLst/>
          </a:prstGeom>
          <a:solidFill>
            <a:srgbClr val="F2F7FB"/>
          </a:solidFill>
          <a:ln w="9525">
            <a:solidFill>
              <a:srgbClr val="B7D0E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4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只保留与汇报目标直接相关的信息</a:t>
            </a:r>
            <a:endParaRPr sz="1240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3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  PON割接自动化：100个PON口准备从5天压缩到2小时</a:t>
            </a:r>
            <a:endParaRPr sz="19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3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3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3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务实求效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3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先把流程吃透，再把核验、转换、配置、校验逐项固化。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3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pon-problem-bg"/>
          <p:cNvSpPr>
            <a:spLocks noGrp="1"/>
          </p:cNvSpPr>
          <p:nvPr/>
        </p:nvSpPr>
        <p:spPr>
          <a:xfrm>
            <a:off x="323850" y="1352550"/>
            <a:ext cx="5191125" cy="140970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9" name="pon-problem-header"/>
          <p:cNvSpPr>
            <a:spLocks noGrp="1"/>
          </p:cNvSpPr>
          <p:nvPr/>
        </p:nvSpPr>
        <p:spPr>
          <a:xfrm>
            <a:off x="438150" y="1438275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难点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pon-problem-body"/>
          <p:cNvSpPr>
            <a:spLocks noGrp="1"/>
          </p:cNvSpPr>
          <p:nvPr/>
        </p:nvSpPr>
        <p:spPr>
          <a:xfrm>
            <a:off x="495300" y="1762125"/>
            <a:ext cx="4848225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多厂家设备命令不一致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核验、转换、录入依赖人工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100个PON口准备一次通常需要5天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pon-action-bg"/>
          <p:cNvSpPr>
            <a:spLocks noGrp="1"/>
          </p:cNvSpPr>
          <p:nvPr/>
        </p:nvSpPr>
        <p:spPr>
          <a:xfrm>
            <a:off x="323850" y="2933700"/>
            <a:ext cx="5191125" cy="20002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12" name="pon-action-header"/>
          <p:cNvSpPr>
            <a:spLocks noGrp="1"/>
          </p:cNvSpPr>
          <p:nvPr/>
        </p:nvSpPr>
        <p:spPr>
          <a:xfrm>
            <a:off x="438150" y="3019425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拆解与固化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pon-action-body"/>
          <p:cNvSpPr>
            <a:spLocks noGrp="1"/>
          </p:cNvSpPr>
          <p:nvPr/>
        </p:nvSpPr>
        <p:spPr>
          <a:xfrm>
            <a:off x="495300" y="3343275"/>
            <a:ext cx="4848225" cy="1533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把核验、转换、配置、校验拆成标准步骤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跟随实际操作反复测试，逐项修正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增加结果回查，避免批量处理“跑完不知对错”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将个人操作经验沉淀为可复用工具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pon-method-bg"/>
          <p:cNvSpPr>
            <a:spLocks noGrp="1"/>
          </p:cNvSpPr>
          <p:nvPr/>
        </p:nvSpPr>
        <p:spPr>
          <a:xfrm>
            <a:off x="323850" y="5105400"/>
            <a:ext cx="5191125" cy="952500"/>
          </a:xfrm>
          <a:prstGeom prst="rect">
            <a:avLst/>
          </a:prstGeom>
          <a:solidFill>
            <a:srgbClr val="FFF9EF"/>
          </a:solidFill>
          <a:ln w="0">
            <a:noFill/>
            <a:prstDash val="solid"/>
          </a:ln>
        </p:spPr>
      </p:sp>
      <p:sp>
        <p:nvSpPr>
          <p:cNvPr id="15" name="pon-method-header"/>
          <p:cNvSpPr>
            <a:spLocks noGrp="1"/>
          </p:cNvSpPr>
          <p:nvPr/>
        </p:nvSpPr>
        <p:spPr>
          <a:xfrm>
            <a:off x="438150" y="5191125"/>
            <a:ext cx="1381125" cy="28575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体会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pon-method-body"/>
          <p:cNvSpPr>
            <a:spLocks noGrp="1"/>
          </p:cNvSpPr>
          <p:nvPr/>
        </p:nvSpPr>
        <p:spPr>
          <a:xfrm>
            <a:off x="495300" y="5514975"/>
            <a:ext cx="48482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创新不一定是另起炉灶，也可以是把熟悉的流程重新做得更好。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pon-flow-heading"/>
          <p:cNvSpPr>
            <a:spLocks noGrp="1"/>
          </p:cNvSpPr>
          <p:nvPr/>
        </p:nvSpPr>
        <p:spPr>
          <a:xfrm>
            <a:off x="5905500" y="1428750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从人工串行到程序化批量处理</a:t>
            </a:r>
            <a:endParaRPr sz="1500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pon-step-1"/>
          <p:cNvSpPr>
            <a:spLocks noGrp="1"/>
          </p:cNvSpPr>
          <p:nvPr/>
        </p:nvSpPr>
        <p:spPr>
          <a:xfrm>
            <a:off x="5953125" y="1952625"/>
            <a:ext cx="1123950" cy="514350"/>
          </a:xfrm>
          <a:prstGeom prst="roundRect">
            <a:avLst>
              <a:gd name="adj" fmla="val 18519"/>
            </a:avLst>
          </a:prstGeom>
          <a:solidFill>
            <a:srgbClr val="F2F7FB"/>
          </a:solidFill>
          <a:ln w="9525">
            <a:solidFill>
              <a:srgbClr val="9EC5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核验</a:t>
            </a:r>
            <a:endParaRPr sz="1350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pon-arrow-1"/>
          <p:cNvSpPr>
            <a:spLocks noGrp="1"/>
          </p:cNvSpPr>
          <p:nvPr/>
        </p:nvSpPr>
        <p:spPr>
          <a:xfrm>
            <a:off x="7077075" y="2038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9B9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B9B9B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500" b="1">
              <a:solidFill>
                <a:srgbClr val="9B9B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pon-step-2"/>
          <p:cNvSpPr>
            <a:spLocks noGrp="1"/>
          </p:cNvSpPr>
          <p:nvPr/>
        </p:nvSpPr>
        <p:spPr>
          <a:xfrm>
            <a:off x="7362825" y="1952625"/>
            <a:ext cx="1123950" cy="514350"/>
          </a:xfrm>
          <a:prstGeom prst="roundRect">
            <a:avLst>
              <a:gd name="adj" fmla="val 18519"/>
            </a:avLst>
          </a:prstGeom>
          <a:solidFill>
            <a:srgbClr val="FFF4F4"/>
          </a:solidFill>
          <a:ln w="9525">
            <a:solidFill>
              <a:srgbClr val="E3A1A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转换</a:t>
            </a:r>
            <a:endParaRPr sz="13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pon-arrow-2"/>
          <p:cNvSpPr>
            <a:spLocks noGrp="1"/>
          </p:cNvSpPr>
          <p:nvPr/>
        </p:nvSpPr>
        <p:spPr>
          <a:xfrm>
            <a:off x="8486775" y="2038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9B9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B9B9B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500" b="1">
              <a:solidFill>
                <a:srgbClr val="9B9B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pon-step-3"/>
          <p:cNvSpPr>
            <a:spLocks noGrp="1"/>
          </p:cNvSpPr>
          <p:nvPr/>
        </p:nvSpPr>
        <p:spPr>
          <a:xfrm>
            <a:off x="8772525" y="1952625"/>
            <a:ext cx="1123950" cy="514350"/>
          </a:xfrm>
          <a:prstGeom prst="roundRect">
            <a:avLst>
              <a:gd name="adj" fmla="val 18519"/>
            </a:avLst>
          </a:prstGeom>
          <a:solidFill>
            <a:srgbClr val="F2F7FB"/>
          </a:solidFill>
          <a:ln w="9525">
            <a:solidFill>
              <a:srgbClr val="9EC5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endParaRPr sz="1350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pon-arrow-3"/>
          <p:cNvSpPr>
            <a:spLocks noGrp="1"/>
          </p:cNvSpPr>
          <p:nvPr/>
        </p:nvSpPr>
        <p:spPr>
          <a:xfrm>
            <a:off x="9896475" y="20383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9B9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B9B9B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sz="1500" b="1">
              <a:solidFill>
                <a:srgbClr val="9B9B9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pon-step-4"/>
          <p:cNvSpPr>
            <a:spLocks noGrp="1"/>
          </p:cNvSpPr>
          <p:nvPr/>
        </p:nvSpPr>
        <p:spPr>
          <a:xfrm>
            <a:off x="10182225" y="1952625"/>
            <a:ext cx="1123950" cy="514350"/>
          </a:xfrm>
          <a:prstGeom prst="roundRect">
            <a:avLst>
              <a:gd name="adj" fmla="val 18519"/>
            </a:avLst>
          </a:prstGeom>
          <a:solidFill>
            <a:srgbClr val="FFF4F4"/>
          </a:solidFill>
          <a:ln w="9525">
            <a:solidFill>
              <a:srgbClr val="E3A1A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校验</a:t>
            </a:r>
            <a:endParaRPr sz="13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pon-metrics-bg"/>
          <p:cNvSpPr>
            <a:spLocks noGrp="1"/>
          </p:cNvSpPr>
          <p:nvPr/>
        </p:nvSpPr>
        <p:spPr>
          <a:xfrm>
            <a:off x="5905500" y="2905125"/>
            <a:ext cx="5638800" cy="1257300"/>
          </a:xfrm>
          <a:prstGeom prst="rect">
            <a:avLst/>
          </a:prstGeom>
          <a:solidFill>
            <a:srgbClr val="FBF8F5"/>
          </a:solidFill>
          <a:ln w="9525">
            <a:solidFill>
              <a:srgbClr val="E3DED8"/>
            </a:solidFill>
            <a:prstDash val="solid"/>
          </a:ln>
        </p:spPr>
      </p:sp>
      <p:sp>
        <p:nvSpPr>
          <p:cNvPr id="26" name="pon-ports-value"/>
          <p:cNvSpPr>
            <a:spLocks noGrp="1"/>
          </p:cNvSpPr>
          <p:nvPr/>
        </p:nvSpPr>
        <p:spPr>
          <a:xfrm>
            <a:off x="6096000" y="31432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100个</a:t>
            </a:r>
            <a:endParaRPr sz="2100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pon-ports-label"/>
          <p:cNvSpPr>
            <a:spLocks noGrp="1"/>
          </p:cNvSpPr>
          <p:nvPr/>
        </p:nvSpPr>
        <p:spPr>
          <a:xfrm>
            <a:off x="6096000" y="3486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批量准备规模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pon-time-value"/>
          <p:cNvSpPr>
            <a:spLocks noGrp="1"/>
          </p:cNvSpPr>
          <p:nvPr/>
        </p:nvSpPr>
        <p:spPr>
          <a:xfrm>
            <a:off x="7839075" y="31432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5天 → 2小时</a:t>
            </a:r>
            <a:endParaRPr sz="19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pon-time-label"/>
          <p:cNvSpPr>
            <a:spLocks noGrp="1"/>
          </p:cNvSpPr>
          <p:nvPr/>
        </p:nvSpPr>
        <p:spPr>
          <a:xfrm>
            <a:off x="7839075" y="3486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准备用时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pon-users-value"/>
          <p:cNvSpPr>
            <a:spLocks noGrp="1"/>
          </p:cNvSpPr>
          <p:nvPr/>
        </p:nvSpPr>
        <p:spPr>
          <a:xfrm>
            <a:off x="9772650" y="31432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7.6万户</a:t>
            </a:r>
            <a:endParaRPr sz="2100" b="1">
              <a:solidFill>
                <a:srgbClr val="B779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pon-users-label"/>
          <p:cNvSpPr>
            <a:spLocks noGrp="1"/>
          </p:cNvSpPr>
          <p:nvPr/>
        </p:nvSpPr>
        <p:spPr>
          <a:xfrm>
            <a:off x="9772650" y="34861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助力网络升级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pon-result-bg"/>
          <p:cNvSpPr>
            <a:spLocks noGrp="1"/>
          </p:cNvSpPr>
          <p:nvPr/>
        </p:nvSpPr>
        <p:spPr>
          <a:xfrm>
            <a:off x="5905500" y="4381500"/>
            <a:ext cx="5638800" cy="167640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3" name="pon-result-header"/>
          <p:cNvSpPr>
            <a:spLocks noGrp="1"/>
          </p:cNvSpPr>
          <p:nvPr/>
        </p:nvSpPr>
        <p:spPr>
          <a:xfrm>
            <a:off x="6019800" y="4467225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带来的变化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pon-result-body"/>
          <p:cNvSpPr>
            <a:spLocks noGrp="1"/>
          </p:cNvSpPr>
          <p:nvPr/>
        </p:nvSpPr>
        <p:spPr>
          <a:xfrm>
            <a:off x="6076950" y="4791075"/>
            <a:ext cx="5295900" cy="1209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效率：5天压缩到2小时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质量：降低重复操作和人为差错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成效：累计助力7.6万户完成网络升级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沉淀：形成可复制、可检查、可持续优化的工具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4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04  网络在线分析系统：1万多个通信点位状态2分钟可见</a:t>
            </a:r>
            <a:endParaRPr sz="19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4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4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4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务实求效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4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围绕运维判断需要，把状态采集、整体分析和异常定位集中到一个界面。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4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network-dashboard-border"/>
          <p:cNvSpPr>
            <a:spLocks noGrp="1"/>
          </p:cNvSpPr>
          <p:nvPr/>
        </p:nvSpPr>
        <p:spPr>
          <a:xfrm>
            <a:off x="323850" y="1381125"/>
            <a:ext cx="4762500" cy="2438400"/>
          </a:xfrm>
          <a:prstGeom prst="rect">
            <a:avLst/>
          </a:prstGeom>
          <a:noFill/>
          <a:ln w="9525">
            <a:solidFill>
              <a:srgbClr val="AEB7C2"/>
            </a:solidFill>
            <a:prstDash val="solid"/>
          </a:ln>
        </p:spPr>
      </p:sp>
      <p:sp>
        <p:nvSpPr>
          <p:cNvPr id="10" name="network-alert-slot-frame"/>
          <p:cNvSpPr>
            <a:spLocks noGrp="1"/>
          </p:cNvSpPr>
          <p:nvPr/>
        </p:nvSpPr>
        <p:spPr>
          <a:xfrm>
            <a:off x="5238750" y="1381125"/>
            <a:ext cx="1847850" cy="1143000"/>
          </a:xfrm>
          <a:prstGeom prst="rect">
            <a:avLst/>
          </a:prstGeom>
          <a:solidFill>
            <a:srgbClr val="F3F5F7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1" name="network-alert-slot-accent"/>
          <p:cNvSpPr>
            <a:spLocks noGrp="1"/>
          </p:cNvSpPr>
          <p:nvPr/>
        </p:nvSpPr>
        <p:spPr>
          <a:xfrm>
            <a:off x="5238750" y="1381125"/>
            <a:ext cx="57150" cy="11430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12" name="network-alert-slot-tag"/>
          <p:cNvSpPr>
            <a:spLocks noGrp="1"/>
          </p:cNvSpPr>
          <p:nvPr/>
        </p:nvSpPr>
        <p:spPr>
          <a:xfrm>
            <a:off x="5410200" y="1514475"/>
            <a:ext cx="590550" cy="228600"/>
          </a:xfrm>
          <a:prstGeom prst="rect">
            <a:avLst/>
          </a:prstGeom>
          <a:solidFill>
            <a:srgbClr val="7D8793"/>
          </a:solidFill>
          <a:ln w="0">
            <a:solidFill>
              <a:srgbClr val="7D87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图片位</a:t>
            </a:r>
            <a:endParaRPr sz="9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network-alert-slot-title"/>
          <p:cNvSpPr>
            <a:spLocks noGrp="1"/>
          </p:cNvSpPr>
          <p:nvPr/>
        </p:nvSpPr>
        <p:spPr>
          <a:xfrm>
            <a:off x="5467350" y="1838325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5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rPr>
              <a:t>异常告警 / 定位截图</a:t>
            </a:r>
            <a:endParaRPr sz="1165" b="1">
              <a:solidFill>
                <a:srgbClr val="505A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network-alert-slot-hint"/>
          <p:cNvSpPr>
            <a:spLocks noGrp="1"/>
          </p:cNvSpPr>
          <p:nvPr/>
        </p:nvSpPr>
        <p:spPr>
          <a:xfrm>
            <a:off x="5410200" y="2162175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rPr>
              <a:t>建议截取关键界面</a:t>
            </a:r>
            <a:endParaRPr sz="975">
              <a:solidFill>
                <a:srgbClr val="7B84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network-result-slot-frame"/>
          <p:cNvSpPr>
            <a:spLocks noGrp="1"/>
          </p:cNvSpPr>
          <p:nvPr/>
        </p:nvSpPr>
        <p:spPr>
          <a:xfrm>
            <a:off x="5238750" y="2676525"/>
            <a:ext cx="1847850" cy="1143000"/>
          </a:xfrm>
          <a:prstGeom prst="rect">
            <a:avLst/>
          </a:prstGeom>
          <a:solidFill>
            <a:srgbClr val="F3F5F7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network-result-slot-accent"/>
          <p:cNvSpPr>
            <a:spLocks noGrp="1"/>
          </p:cNvSpPr>
          <p:nvPr/>
        </p:nvSpPr>
        <p:spPr>
          <a:xfrm>
            <a:off x="5238750" y="2676525"/>
            <a:ext cx="57150" cy="11430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17" name="network-result-slot-tag"/>
          <p:cNvSpPr>
            <a:spLocks noGrp="1"/>
          </p:cNvSpPr>
          <p:nvPr/>
        </p:nvSpPr>
        <p:spPr>
          <a:xfrm>
            <a:off x="5410200" y="2809875"/>
            <a:ext cx="590550" cy="228600"/>
          </a:xfrm>
          <a:prstGeom prst="rect">
            <a:avLst/>
          </a:prstGeom>
          <a:solidFill>
            <a:srgbClr val="7D8793"/>
          </a:solidFill>
          <a:ln w="0">
            <a:solidFill>
              <a:srgbClr val="7D87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图片位</a:t>
            </a:r>
            <a:endParaRPr sz="9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network-result-slot-title"/>
          <p:cNvSpPr>
            <a:spLocks noGrp="1"/>
          </p:cNvSpPr>
          <p:nvPr/>
        </p:nvSpPr>
        <p:spPr>
          <a:xfrm>
            <a:off x="5467350" y="3133725"/>
            <a:ext cx="1390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5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rPr>
              <a:t>统计结果 / 处置截图</a:t>
            </a:r>
            <a:endParaRPr sz="1165" b="1">
              <a:solidFill>
                <a:srgbClr val="505A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network-result-slot-hint"/>
          <p:cNvSpPr>
            <a:spLocks noGrp="1"/>
          </p:cNvSpPr>
          <p:nvPr/>
        </p:nvSpPr>
        <p:spPr>
          <a:xfrm>
            <a:off x="5410200" y="3457575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rPr>
              <a:t>建议突出结果变化</a:t>
            </a:r>
            <a:endParaRPr sz="975">
              <a:solidFill>
                <a:srgbClr val="7B84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network-caption"/>
          <p:cNvSpPr>
            <a:spLocks noGrp="1"/>
          </p:cNvSpPr>
          <p:nvPr/>
        </p:nvSpPr>
        <p:spPr>
          <a:xfrm>
            <a:off x="323850" y="3895725"/>
            <a:ext cx="676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9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主界面 + 告警定位 + 处置结果，完整呈现项目运行链条</a:t>
            </a:r>
            <a:endParaRPr sz="1090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network-metrics-bg"/>
          <p:cNvSpPr>
            <a:spLocks noGrp="1"/>
          </p:cNvSpPr>
          <p:nvPr/>
        </p:nvSpPr>
        <p:spPr>
          <a:xfrm>
            <a:off x="323850" y="4295775"/>
            <a:ext cx="6762750" cy="1466850"/>
          </a:xfrm>
          <a:prstGeom prst="rect">
            <a:avLst/>
          </a:prstGeom>
          <a:solidFill>
            <a:srgbClr val="FBF8F5"/>
          </a:solidFill>
          <a:ln w="9525">
            <a:solidFill>
              <a:srgbClr val="E3DED8"/>
            </a:solidFill>
            <a:prstDash val="solid"/>
          </a:ln>
        </p:spPr>
      </p:sp>
      <p:sp>
        <p:nvSpPr>
          <p:cNvPr id="22" name="network-points-value"/>
          <p:cNvSpPr>
            <a:spLocks noGrp="1"/>
          </p:cNvSpPr>
          <p:nvPr/>
        </p:nvSpPr>
        <p:spPr>
          <a:xfrm>
            <a:off x="533400" y="451485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1万+</a:t>
            </a:r>
            <a:endParaRPr sz="2025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network-points-label"/>
          <p:cNvSpPr>
            <a:spLocks noGrp="1"/>
          </p:cNvSpPr>
          <p:nvPr/>
        </p:nvSpPr>
        <p:spPr>
          <a:xfrm>
            <a:off x="533400" y="48577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通信点位统一监测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network-speed-value"/>
          <p:cNvSpPr>
            <a:spLocks noGrp="1"/>
          </p:cNvSpPr>
          <p:nvPr/>
        </p:nvSpPr>
        <p:spPr>
          <a:xfrm>
            <a:off x="2724150" y="451485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2小时 → 2分钟</a:t>
            </a:r>
            <a:endParaRPr sz="172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network-speed-label"/>
          <p:cNvSpPr>
            <a:spLocks noGrp="1"/>
          </p:cNvSpPr>
          <p:nvPr/>
        </p:nvSpPr>
        <p:spPr>
          <a:xfrm>
            <a:off x="2724150" y="48577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全网状态统计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network-mode-value"/>
          <p:cNvSpPr>
            <a:spLocks noGrp="1"/>
          </p:cNvSpPr>
          <p:nvPr/>
        </p:nvSpPr>
        <p:spPr>
          <a:xfrm>
            <a:off x="4914900" y="451485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主动监测</a:t>
            </a:r>
            <a:endParaRPr sz="1950" b="1">
              <a:solidFill>
                <a:srgbClr val="B779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network-mode-label"/>
          <p:cNvSpPr>
            <a:spLocks noGrp="1"/>
          </p:cNvSpPr>
          <p:nvPr/>
        </p:nvSpPr>
        <p:spPr>
          <a:xfrm>
            <a:off x="4914900" y="48577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从临时查询转向持续可见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network-left-conclusion"/>
          <p:cNvSpPr>
            <a:spLocks noGrp="1"/>
          </p:cNvSpPr>
          <p:nvPr/>
        </p:nvSpPr>
        <p:spPr>
          <a:xfrm>
            <a:off x="514350" y="5314950"/>
            <a:ext cx="638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看得见全局，找得到异常，处置有依据</a:t>
            </a:r>
            <a:endParaRPr sz="1275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network-problem-bg"/>
          <p:cNvSpPr>
            <a:spLocks noGrp="1"/>
          </p:cNvSpPr>
          <p:nvPr/>
        </p:nvSpPr>
        <p:spPr>
          <a:xfrm>
            <a:off x="7334250" y="1381125"/>
            <a:ext cx="4210050" cy="12001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0" name="network-problem-header"/>
          <p:cNvSpPr>
            <a:spLocks noGrp="1"/>
          </p:cNvSpPr>
          <p:nvPr/>
        </p:nvSpPr>
        <p:spPr>
          <a:xfrm>
            <a:off x="7448550" y="14668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原来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network-problem-body"/>
          <p:cNvSpPr>
            <a:spLocks noGrp="1"/>
          </p:cNvSpPr>
          <p:nvPr/>
        </p:nvSpPr>
        <p:spPr>
          <a:xfrm>
            <a:off x="7505700" y="1790700"/>
            <a:ext cx="38671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1万多个通信点位数量多、分布广，统计一次全网状态需要近2小时，异常定位也依赖人工经验。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network-monitor-bg"/>
          <p:cNvSpPr>
            <a:spLocks noGrp="1"/>
          </p:cNvSpPr>
          <p:nvPr/>
        </p:nvSpPr>
        <p:spPr>
          <a:xfrm>
            <a:off x="7334250" y="2733675"/>
            <a:ext cx="4210050" cy="14668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3" name="network-monitor-header"/>
          <p:cNvSpPr>
            <a:spLocks noGrp="1"/>
          </p:cNvSpPr>
          <p:nvPr/>
        </p:nvSpPr>
        <p:spPr>
          <a:xfrm>
            <a:off x="7448550" y="281940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改造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network-monitor-body"/>
          <p:cNvSpPr>
            <a:spLocks noGrp="1"/>
          </p:cNvSpPr>
          <p:nvPr/>
        </p:nvSpPr>
        <p:spPr>
          <a:xfrm>
            <a:off x="7505700" y="3143250"/>
            <a:ext cx="38671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自动采集点位状态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在线分析整体运行情况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快速定位异常点位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集中呈现趋势、状态和结果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network-change-bg"/>
          <p:cNvSpPr>
            <a:spLocks noGrp="1"/>
          </p:cNvSpPr>
          <p:nvPr/>
        </p:nvSpPr>
        <p:spPr>
          <a:xfrm>
            <a:off x="7334250" y="4352925"/>
            <a:ext cx="4210050" cy="1409700"/>
          </a:xfrm>
          <a:prstGeom prst="rect">
            <a:avLst/>
          </a:prstGeom>
          <a:solidFill>
            <a:srgbClr val="FFF8F2"/>
          </a:solidFill>
          <a:ln w="0">
            <a:noFill/>
            <a:prstDash val="solid"/>
          </a:ln>
        </p:spPr>
      </p:sp>
      <p:sp>
        <p:nvSpPr>
          <p:cNvPr id="36" name="network-change-header"/>
          <p:cNvSpPr>
            <a:spLocks noGrp="1"/>
          </p:cNvSpPr>
          <p:nvPr/>
        </p:nvSpPr>
        <p:spPr>
          <a:xfrm>
            <a:off x="7448550" y="4438650"/>
            <a:ext cx="1381125" cy="28575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变化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network-change-body"/>
          <p:cNvSpPr>
            <a:spLocks noGrp="1"/>
          </p:cNvSpPr>
          <p:nvPr/>
        </p:nvSpPr>
        <p:spPr>
          <a:xfrm>
            <a:off x="7505700" y="4762500"/>
            <a:ext cx="38671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统计：2小时 → 2分钟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运维：需要时逐点查 → 持续主动看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判断：个人经验 → 统一数据呈现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network-conclusion"/>
          <p:cNvSpPr>
            <a:spLocks noGrp="1"/>
          </p:cNvSpPr>
          <p:nvPr/>
        </p:nvSpPr>
        <p:spPr>
          <a:xfrm>
            <a:off x="7334250" y="5876925"/>
            <a:ext cx="4210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数据不只是搬上屏，更要让判断有依据、处置有抓手</a:t>
            </a:r>
            <a:endParaRPr sz="1350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5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05  磨憨外籍人员服务平台：台账、提醒、双语服务集中管理</a:t>
            </a:r>
            <a:endParaRPr sz="18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5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5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5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务实求效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5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围绕使用者办事过程，把台账、提醒和双语沟通重新组织起来。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5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mohan-scene-bg"/>
          <p:cNvSpPr>
            <a:spLocks noGrp="1"/>
          </p:cNvSpPr>
          <p:nvPr/>
        </p:nvSpPr>
        <p:spPr>
          <a:xfrm>
            <a:off x="323850" y="1381125"/>
            <a:ext cx="5334000" cy="12382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9" name="mohan-scene-header"/>
          <p:cNvSpPr>
            <a:spLocks noGrp="1"/>
          </p:cNvSpPr>
          <p:nvPr/>
        </p:nvSpPr>
        <p:spPr>
          <a:xfrm>
            <a:off x="438150" y="14668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业务卡点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mohan-scene-body"/>
          <p:cNvSpPr>
            <a:spLocks noGrp="1"/>
          </p:cNvSpPr>
          <p:nvPr/>
        </p:nvSpPr>
        <p:spPr>
          <a:xfrm>
            <a:off x="495300" y="1790700"/>
            <a:ext cx="49911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纸质台账、证件到期提醒和中老双语沟通分散在不同环节，查找、提醒和协同不够顺畅。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mohan-action-bg"/>
          <p:cNvSpPr>
            <a:spLocks noGrp="1"/>
          </p:cNvSpPr>
          <p:nvPr/>
        </p:nvSpPr>
        <p:spPr>
          <a:xfrm>
            <a:off x="323850" y="2781300"/>
            <a:ext cx="5334000" cy="1952625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12" name="mohan-action-header"/>
          <p:cNvSpPr>
            <a:spLocks noGrp="1"/>
          </p:cNvSpPr>
          <p:nvPr/>
        </p:nvSpPr>
        <p:spPr>
          <a:xfrm>
            <a:off x="438150" y="2867025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过程改造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mohan-action-body"/>
          <p:cNvSpPr>
            <a:spLocks noGrp="1"/>
          </p:cNvSpPr>
          <p:nvPr/>
        </p:nvSpPr>
        <p:spPr>
          <a:xfrm>
            <a:off x="495300" y="3190875"/>
            <a:ext cx="49911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台账电子化：信息统一归集、随时可查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到期自动提醒：从“靠人记”变为“系统提示”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中老双语服务：减少重复解释，提高沟通效率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事项集中呈现：办理状态一目了然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mohan-result-bg"/>
          <p:cNvSpPr>
            <a:spLocks noGrp="1"/>
          </p:cNvSpPr>
          <p:nvPr/>
        </p:nvSpPr>
        <p:spPr>
          <a:xfrm>
            <a:off x="323850" y="4905375"/>
            <a:ext cx="5334000" cy="1143000"/>
          </a:xfrm>
          <a:prstGeom prst="rect">
            <a:avLst/>
          </a:prstGeom>
          <a:solidFill>
            <a:srgbClr val="FFF8F2"/>
          </a:solidFill>
          <a:ln w="0">
            <a:noFill/>
            <a:prstDash val="solid"/>
          </a:ln>
        </p:spPr>
      </p:sp>
      <p:sp>
        <p:nvSpPr>
          <p:cNvPr id="15" name="mohan-result-header"/>
          <p:cNvSpPr>
            <a:spLocks noGrp="1"/>
          </p:cNvSpPr>
          <p:nvPr/>
        </p:nvSpPr>
        <p:spPr>
          <a:xfrm>
            <a:off x="438150" y="4991100"/>
            <a:ext cx="1381125" cy="28575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直接成效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mohan-result-body"/>
          <p:cNvSpPr>
            <a:spLocks noGrp="1"/>
          </p:cNvSpPr>
          <p:nvPr/>
        </p:nvSpPr>
        <p:spPr>
          <a:xfrm>
            <a:off x="495300" y="5314950"/>
            <a:ext cx="49911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累计支撑办理务工证1322本，办理状态可持续跟进。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信息由“到处找”变为“集中查”，提醒由“靠人记”变为“到期提示”。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ohan-caption"/>
          <p:cNvSpPr>
            <a:spLocks noGrp="1"/>
          </p:cNvSpPr>
          <p:nvPr/>
        </p:nvSpPr>
        <p:spPr>
          <a:xfrm>
            <a:off x="5953125" y="4762500"/>
            <a:ext cx="560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真实系统界面｜磨憨外籍人员综合服务管理平台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mohan-feeling"/>
          <p:cNvSpPr>
            <a:spLocks noGrp="1"/>
          </p:cNvSpPr>
          <p:nvPr/>
        </p:nvSpPr>
        <p:spPr>
          <a:xfrm>
            <a:off x="5953125" y="5219700"/>
            <a:ext cx="5600700" cy="533400"/>
          </a:xfrm>
          <a:prstGeom prst="rect">
            <a:avLst/>
          </a:prstGeom>
          <a:solidFill>
            <a:srgbClr val="FFF5F5"/>
          </a:solidFill>
          <a:ln w="9525">
            <a:solidFill>
              <a:srgbClr val="E6A1A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使用者最直接的感受：清楚｜及时｜好沟通</a:t>
            </a:r>
            <a:endParaRPr sz="16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6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06  政务服务数字人“小玉”：4811项办事指南7×24小时可问</a:t>
            </a:r>
            <a:endParaRPr sz="18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6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6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6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精研求新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6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群众更关心的是：能不能听懂，答案有没有依据，政策变化后能不能及时更新。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6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xiaoyu-caption"/>
          <p:cNvSpPr>
            <a:spLocks noGrp="1"/>
          </p:cNvSpPr>
          <p:nvPr/>
        </p:nvSpPr>
        <p:spPr>
          <a:xfrm>
            <a:off x="323850" y="5619750"/>
            <a:ext cx="509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真实应用场景｜政务服务数字人“小玉”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xiaoyu-knowledge-bg"/>
          <p:cNvSpPr>
            <a:spLocks noGrp="1"/>
          </p:cNvSpPr>
          <p:nvPr/>
        </p:nvSpPr>
        <p:spPr>
          <a:xfrm>
            <a:off x="5715000" y="1381125"/>
            <a:ext cx="5829300" cy="14287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11" name="xiaoyu-knowledge-header"/>
          <p:cNvSpPr>
            <a:spLocks noGrp="1"/>
          </p:cNvSpPr>
          <p:nvPr/>
        </p:nvSpPr>
        <p:spPr>
          <a:xfrm>
            <a:off x="5829300" y="14668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知识底座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xiaoyu-knowledge-body"/>
          <p:cNvSpPr>
            <a:spLocks noGrp="1"/>
          </p:cNvSpPr>
          <p:nvPr/>
        </p:nvSpPr>
        <p:spPr>
          <a:xfrm>
            <a:off x="5886450" y="1790700"/>
            <a:ext cx="54864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州、县、乡三级4811项办事指南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约3000万字政务知识数据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接入TeleSpeech ASR语音识别能力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形成统一知识入口与更新机制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xiaoyu-optimize-bg"/>
          <p:cNvSpPr>
            <a:spLocks noGrp="1"/>
          </p:cNvSpPr>
          <p:nvPr/>
        </p:nvSpPr>
        <p:spPr>
          <a:xfrm>
            <a:off x="5715000" y="2981325"/>
            <a:ext cx="5829300" cy="1476375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14" name="xiaoyu-optimize-header"/>
          <p:cNvSpPr>
            <a:spLocks noGrp="1"/>
          </p:cNvSpPr>
          <p:nvPr/>
        </p:nvSpPr>
        <p:spPr>
          <a:xfrm>
            <a:off x="5829300" y="30670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迭代方法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xiaoyu-optimize-body"/>
          <p:cNvSpPr>
            <a:spLocks noGrp="1"/>
          </p:cNvSpPr>
          <p:nvPr/>
        </p:nvSpPr>
        <p:spPr>
          <a:xfrm>
            <a:off x="5886450" y="3390900"/>
            <a:ext cx="54864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清洗知识 → 设计问法 → 校准答案 → 持续更新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覆盖不同问法和口音，减少答非所问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建立问答测试与效果复盘机制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事项变化后及时更新回答依据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xiaoyu-result-bg"/>
          <p:cNvSpPr>
            <a:spLocks noGrp="1"/>
          </p:cNvSpPr>
          <p:nvPr/>
        </p:nvSpPr>
        <p:spPr>
          <a:xfrm>
            <a:off x="5715000" y="4629150"/>
            <a:ext cx="5829300" cy="1428750"/>
          </a:xfrm>
          <a:prstGeom prst="rect">
            <a:avLst/>
          </a:prstGeom>
          <a:solidFill>
            <a:srgbClr val="FFF8F2"/>
          </a:solidFill>
          <a:ln w="0">
            <a:noFill/>
            <a:prstDash val="solid"/>
          </a:ln>
        </p:spPr>
      </p:sp>
      <p:sp>
        <p:nvSpPr>
          <p:cNvPr id="17" name="xiaoyu-result-header"/>
          <p:cNvSpPr>
            <a:spLocks noGrp="1"/>
          </p:cNvSpPr>
          <p:nvPr/>
        </p:nvSpPr>
        <p:spPr>
          <a:xfrm>
            <a:off x="5829300" y="4714875"/>
            <a:ext cx="1381125" cy="28575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应用成效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xiaoyu-result-body"/>
          <p:cNvSpPr>
            <a:spLocks noGrp="1"/>
          </p:cNvSpPr>
          <p:nvPr/>
        </p:nvSpPr>
        <p:spPr>
          <a:xfrm>
            <a:off x="5886450" y="5038725"/>
            <a:ext cx="548640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已完成智能问答1万余次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提供7×24小时持续服务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群众少跑一次，窗口少重复解释一次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从“做出数字人”转向“建好知识服务能力”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7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07  安全研发与AI测试：把风险控制贯穿项目全过程</a:t>
            </a:r>
            <a:endParaRPr sz="202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7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7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7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迎难攻坚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7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把演练、保障和测试中形成的安全方法，带入需求、开发、上线与运行全过程。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7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security-evidence-bg"/>
          <p:cNvSpPr>
            <a:spLocks noGrp="1"/>
          </p:cNvSpPr>
          <p:nvPr/>
        </p:nvSpPr>
        <p:spPr>
          <a:xfrm>
            <a:off x="323850" y="1381125"/>
            <a:ext cx="3286125" cy="15811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9" name="security-evidence-header"/>
          <p:cNvSpPr>
            <a:spLocks noGrp="1"/>
          </p:cNvSpPr>
          <p:nvPr/>
        </p:nvSpPr>
        <p:spPr>
          <a:xfrm>
            <a:off x="438150" y="14668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实战来源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security-evidence-body"/>
          <p:cNvSpPr>
            <a:spLocks noGrp="1"/>
          </p:cNvSpPr>
          <p:nvPr/>
        </p:nvSpPr>
        <p:spPr>
          <a:xfrm>
            <a:off x="495300" y="1790700"/>
            <a:ext cx="2943225" cy="1114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网络安全攻防演练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重大保障值守与处置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项目安全评估与复盘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AI应用安全测试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ecurity-targets-bg"/>
          <p:cNvSpPr>
            <a:spLocks noGrp="1"/>
          </p:cNvSpPr>
          <p:nvPr/>
        </p:nvSpPr>
        <p:spPr>
          <a:xfrm>
            <a:off x="323850" y="3114675"/>
            <a:ext cx="3286125" cy="1971675"/>
          </a:xfrm>
          <a:prstGeom prst="rect">
            <a:avLst/>
          </a:prstGeom>
          <a:solidFill>
            <a:srgbClr val="FFF8F2"/>
          </a:solidFill>
          <a:ln w="0">
            <a:noFill/>
            <a:prstDash val="solid"/>
          </a:ln>
        </p:spPr>
      </p:sp>
      <p:sp>
        <p:nvSpPr>
          <p:cNvPr id="12" name="security-targets-header"/>
          <p:cNvSpPr>
            <a:spLocks noGrp="1"/>
          </p:cNvSpPr>
          <p:nvPr/>
        </p:nvSpPr>
        <p:spPr>
          <a:xfrm>
            <a:off x="438150" y="3200400"/>
            <a:ext cx="1381125" cy="28575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重点攻关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ecurity-targets-body"/>
          <p:cNvSpPr>
            <a:spLocks noGrp="1"/>
          </p:cNvSpPr>
          <p:nvPr/>
        </p:nvSpPr>
        <p:spPr>
          <a:xfrm>
            <a:off x="495300" y="3524250"/>
            <a:ext cx="294322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系统兼容与数据质量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数据泄露与越权访问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提示注入与内容风险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4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模型偏差与异常响应</a:t>
            </a:r>
            <a:endParaRPr sz="124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security-principle"/>
          <p:cNvSpPr>
            <a:spLocks noGrp="1"/>
          </p:cNvSpPr>
          <p:nvPr/>
        </p:nvSpPr>
        <p:spPr>
          <a:xfrm>
            <a:off x="323850" y="5248275"/>
            <a:ext cx="3286125" cy="809625"/>
          </a:xfrm>
          <a:prstGeom prst="rect">
            <a:avLst/>
          </a:prstGeom>
          <a:solidFill>
            <a:srgbClr val="F2F7FB"/>
          </a:solidFill>
          <a:ln w="9525">
            <a:solidFill>
              <a:srgbClr val="B7D0E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安全不是最后一道检查，</a:t>
            </a:r>
            <a:endParaRPr sz="1275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127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而是从需求开始就要守住的约束。</a:t>
            </a:r>
            <a:endParaRPr sz="1275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curity-evidence-title"/>
          <p:cNvSpPr>
            <a:spLocks noGrp="1"/>
          </p:cNvSpPr>
          <p:nvPr/>
        </p:nvSpPr>
        <p:spPr>
          <a:xfrm>
            <a:off x="3905250" y="1381125"/>
            <a:ext cx="7639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实战经历形成方法，方法再进入项目流程</a:t>
            </a:r>
            <a:endParaRPr sz="1425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security-drill-slot-frame"/>
          <p:cNvSpPr>
            <a:spLocks noGrp="1"/>
          </p:cNvSpPr>
          <p:nvPr/>
        </p:nvSpPr>
        <p:spPr>
          <a:xfrm>
            <a:off x="3905250" y="1762125"/>
            <a:ext cx="2419350" cy="1381125"/>
          </a:xfrm>
          <a:prstGeom prst="rect">
            <a:avLst/>
          </a:prstGeom>
          <a:solidFill>
            <a:srgbClr val="F3F5F7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7" name="security-drill-slot-accent"/>
          <p:cNvSpPr>
            <a:spLocks noGrp="1"/>
          </p:cNvSpPr>
          <p:nvPr/>
        </p:nvSpPr>
        <p:spPr>
          <a:xfrm>
            <a:off x="3905250" y="1762125"/>
            <a:ext cx="57150" cy="1381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18" name="security-drill-slot-tag"/>
          <p:cNvSpPr>
            <a:spLocks noGrp="1"/>
          </p:cNvSpPr>
          <p:nvPr/>
        </p:nvSpPr>
        <p:spPr>
          <a:xfrm>
            <a:off x="4076700" y="1895475"/>
            <a:ext cx="590550" cy="228600"/>
          </a:xfrm>
          <a:prstGeom prst="rect">
            <a:avLst/>
          </a:prstGeom>
          <a:solidFill>
            <a:srgbClr val="7D8793"/>
          </a:solidFill>
          <a:ln w="0">
            <a:solidFill>
              <a:srgbClr val="7D87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图片位</a:t>
            </a:r>
            <a:endParaRPr sz="9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ecurity-drill-slot-title"/>
          <p:cNvSpPr>
            <a:spLocks noGrp="1"/>
          </p:cNvSpPr>
          <p:nvPr/>
        </p:nvSpPr>
        <p:spPr>
          <a:xfrm>
            <a:off x="4133850" y="2231708"/>
            <a:ext cx="19621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rPr>
              <a:t>网络安全攻防演练</a:t>
            </a:r>
            <a:endParaRPr sz="1350" b="1">
              <a:solidFill>
                <a:srgbClr val="505A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security-drill-slot-hint"/>
          <p:cNvSpPr>
            <a:spLocks noGrp="1"/>
          </p:cNvSpPr>
          <p:nvPr/>
        </p:nvSpPr>
        <p:spPr>
          <a:xfrm>
            <a:off x="4076700" y="27813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rPr>
              <a:t>现场 / 证书 / 任务画面</a:t>
            </a:r>
            <a:endParaRPr sz="975">
              <a:solidFill>
                <a:srgbClr val="7B84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security-duty-slot-frame"/>
          <p:cNvSpPr>
            <a:spLocks noGrp="1"/>
          </p:cNvSpPr>
          <p:nvPr/>
        </p:nvSpPr>
        <p:spPr>
          <a:xfrm>
            <a:off x="6515100" y="1762125"/>
            <a:ext cx="2419350" cy="1381125"/>
          </a:xfrm>
          <a:prstGeom prst="rect">
            <a:avLst/>
          </a:prstGeom>
          <a:solidFill>
            <a:srgbClr val="F3F5F7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2" name="security-duty-slot-accent"/>
          <p:cNvSpPr>
            <a:spLocks noGrp="1"/>
          </p:cNvSpPr>
          <p:nvPr/>
        </p:nvSpPr>
        <p:spPr>
          <a:xfrm>
            <a:off x="6515100" y="1762125"/>
            <a:ext cx="57150" cy="1381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23" name="security-duty-slot-tag"/>
          <p:cNvSpPr>
            <a:spLocks noGrp="1"/>
          </p:cNvSpPr>
          <p:nvPr/>
        </p:nvSpPr>
        <p:spPr>
          <a:xfrm>
            <a:off x="6686550" y="1895475"/>
            <a:ext cx="590550" cy="228600"/>
          </a:xfrm>
          <a:prstGeom prst="rect">
            <a:avLst/>
          </a:prstGeom>
          <a:solidFill>
            <a:srgbClr val="7D8793"/>
          </a:solidFill>
          <a:ln w="0">
            <a:solidFill>
              <a:srgbClr val="7D87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图片位</a:t>
            </a:r>
            <a:endParaRPr sz="9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security-duty-slot-title"/>
          <p:cNvSpPr>
            <a:spLocks noGrp="1"/>
          </p:cNvSpPr>
          <p:nvPr/>
        </p:nvSpPr>
        <p:spPr>
          <a:xfrm>
            <a:off x="6743700" y="2231708"/>
            <a:ext cx="19621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rPr>
              <a:t>重大保障值守</a:t>
            </a:r>
            <a:endParaRPr sz="1350" b="1">
              <a:solidFill>
                <a:srgbClr val="505A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security-duty-slot-hint"/>
          <p:cNvSpPr>
            <a:spLocks noGrp="1"/>
          </p:cNvSpPr>
          <p:nvPr/>
        </p:nvSpPr>
        <p:spPr>
          <a:xfrm>
            <a:off x="6686550" y="27813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rPr>
              <a:t>值守 / 保障 / 处置现场</a:t>
            </a:r>
            <a:endParaRPr sz="975">
              <a:solidFill>
                <a:srgbClr val="7B84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security-test-slot-frame"/>
          <p:cNvSpPr>
            <a:spLocks noGrp="1"/>
          </p:cNvSpPr>
          <p:nvPr/>
        </p:nvSpPr>
        <p:spPr>
          <a:xfrm>
            <a:off x="9124950" y="1762125"/>
            <a:ext cx="2419350" cy="1381125"/>
          </a:xfrm>
          <a:prstGeom prst="rect">
            <a:avLst/>
          </a:prstGeom>
          <a:solidFill>
            <a:srgbClr val="F3F5F7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27" name="security-test-slot-accent"/>
          <p:cNvSpPr>
            <a:spLocks noGrp="1"/>
          </p:cNvSpPr>
          <p:nvPr/>
        </p:nvSpPr>
        <p:spPr>
          <a:xfrm>
            <a:off x="9124950" y="1762125"/>
            <a:ext cx="57150" cy="1381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28" name="security-test-slot-tag"/>
          <p:cNvSpPr>
            <a:spLocks noGrp="1"/>
          </p:cNvSpPr>
          <p:nvPr/>
        </p:nvSpPr>
        <p:spPr>
          <a:xfrm>
            <a:off x="9296400" y="1895475"/>
            <a:ext cx="590550" cy="228600"/>
          </a:xfrm>
          <a:prstGeom prst="rect">
            <a:avLst/>
          </a:prstGeom>
          <a:solidFill>
            <a:srgbClr val="7D8793"/>
          </a:solidFill>
          <a:ln w="0">
            <a:solidFill>
              <a:srgbClr val="7D87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图片位</a:t>
            </a:r>
            <a:endParaRPr sz="9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security-test-slot-title"/>
          <p:cNvSpPr>
            <a:spLocks noGrp="1"/>
          </p:cNvSpPr>
          <p:nvPr/>
        </p:nvSpPr>
        <p:spPr>
          <a:xfrm>
            <a:off x="9353550" y="2231708"/>
            <a:ext cx="19621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05A66"/>
                </a:solidFill>
                <a:latin typeface="Microsoft YaHei"/>
                <a:ea typeface="Microsoft YaHei"/>
                <a:cs typeface="Microsoft YaHei"/>
              </a:rPr>
              <a:t>AI安全测试</a:t>
            </a:r>
            <a:endParaRPr sz="1350" b="1">
              <a:solidFill>
                <a:srgbClr val="505A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security-test-slot-hint"/>
          <p:cNvSpPr>
            <a:spLocks noGrp="1"/>
          </p:cNvSpPr>
          <p:nvPr/>
        </p:nvSpPr>
        <p:spPr>
          <a:xfrm>
            <a:off x="9296400" y="278130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7B8490"/>
                </a:solidFill>
                <a:latin typeface="Microsoft YaHei"/>
                <a:ea typeface="Microsoft YaHei"/>
                <a:cs typeface="Microsoft YaHei"/>
              </a:rPr>
              <a:t>扫描报告 / 测试结果</a:t>
            </a:r>
            <a:endParaRPr sz="975">
              <a:solidFill>
                <a:srgbClr val="7B849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security-process-title"/>
          <p:cNvSpPr>
            <a:spLocks noGrp="1"/>
          </p:cNvSpPr>
          <p:nvPr/>
        </p:nvSpPr>
        <p:spPr>
          <a:xfrm>
            <a:off x="3905250" y="3276600"/>
            <a:ext cx="7639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把安全嵌入需求、开发、上线和运行全过程</a:t>
            </a:r>
            <a:endParaRPr sz="1425" b="1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security-design-bg"/>
          <p:cNvSpPr>
            <a:spLocks noGrp="1"/>
          </p:cNvSpPr>
          <p:nvPr/>
        </p:nvSpPr>
        <p:spPr>
          <a:xfrm>
            <a:off x="3905250" y="3695700"/>
            <a:ext cx="2419350" cy="18478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3" name="security-design-header"/>
          <p:cNvSpPr>
            <a:spLocks noGrp="1"/>
          </p:cNvSpPr>
          <p:nvPr/>
        </p:nvSpPr>
        <p:spPr>
          <a:xfrm>
            <a:off x="4019550" y="3781425"/>
            <a:ext cx="1352550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需求与设计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security-design-body"/>
          <p:cNvSpPr>
            <a:spLocks noGrp="1"/>
          </p:cNvSpPr>
          <p:nvPr/>
        </p:nvSpPr>
        <p:spPr>
          <a:xfrm>
            <a:off x="4076700" y="4105275"/>
            <a:ext cx="20764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数据来源与使用范围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账号、角色和权限边界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敏感数据最小化使用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security-launch-bg"/>
          <p:cNvSpPr>
            <a:spLocks noGrp="1"/>
          </p:cNvSpPr>
          <p:nvPr/>
        </p:nvSpPr>
        <p:spPr>
          <a:xfrm>
            <a:off x="6515100" y="3695700"/>
            <a:ext cx="2419350" cy="18478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6" name="security-launch-header"/>
          <p:cNvSpPr>
            <a:spLocks noGrp="1"/>
          </p:cNvSpPr>
          <p:nvPr/>
        </p:nvSpPr>
        <p:spPr>
          <a:xfrm>
            <a:off x="6629400" y="3781425"/>
            <a:ext cx="1352550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开发与上线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security-launch-body"/>
          <p:cNvSpPr>
            <a:spLocks noGrp="1"/>
          </p:cNvSpPr>
          <p:nvPr/>
        </p:nvSpPr>
        <p:spPr>
          <a:xfrm>
            <a:off x="6686550" y="4105275"/>
            <a:ext cx="20764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功能、性能、安全同步测试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兼容、数据质量逐项清零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未解决问题不进入正式环境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security-run-bg"/>
          <p:cNvSpPr>
            <a:spLocks noGrp="1"/>
          </p:cNvSpPr>
          <p:nvPr/>
        </p:nvSpPr>
        <p:spPr>
          <a:xfrm>
            <a:off x="9124950" y="3695700"/>
            <a:ext cx="2419350" cy="18478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9" name="security-run-header"/>
          <p:cNvSpPr>
            <a:spLocks noGrp="1"/>
          </p:cNvSpPr>
          <p:nvPr/>
        </p:nvSpPr>
        <p:spPr>
          <a:xfrm>
            <a:off x="9239250" y="3781425"/>
            <a:ext cx="1352550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运行与复盘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security-run-body"/>
          <p:cNvSpPr>
            <a:spLocks noGrp="1"/>
          </p:cNvSpPr>
          <p:nvPr/>
        </p:nvSpPr>
        <p:spPr>
          <a:xfrm>
            <a:off x="9296400" y="4105275"/>
            <a:ext cx="20764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日志审计与异常监测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快速响应与变更回退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复盘后更新规则和清单</a:t>
            </a:r>
            <a:endParaRPr sz="116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security-strip"/>
          <p:cNvSpPr>
            <a:spLocks noGrp="1"/>
          </p:cNvSpPr>
          <p:nvPr/>
        </p:nvSpPr>
        <p:spPr>
          <a:xfrm>
            <a:off x="3905250" y="5715000"/>
            <a:ext cx="7639050" cy="495300"/>
          </a:xfrm>
          <a:prstGeom prst="rect">
            <a:avLst/>
          </a:prstGeom>
          <a:solidFill>
            <a:srgbClr val="FFF4F4"/>
          </a:solidFill>
          <a:ln w="9525">
            <a:solidFill>
              <a:srgbClr val="E5A2A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AI安全测试：数据泄露｜提示注入｜内容风险｜模型偏差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8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08  青年研发团队建设：5名成员能够独立开发、交付和运维</a:t>
            </a:r>
            <a:endParaRPr sz="18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8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8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8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示范带动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8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真实项目是研发团队分工协作、形成标准、检验能力的主战场。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8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3850" y="1381125"/>
            <a:ext cx="5619750" cy="3714750"/>
          </a:xfrm>
          <a:prstGeom prst="rect">
            <a:avLst/>
          </a:prstGeom>
        </p:spPr>
      </p:pic>
      <p:sp>
        <p:nvSpPr>
          <p:cNvPr id="9" name="team-caption"/>
          <p:cNvSpPr>
            <a:spLocks noGrp="1"/>
          </p:cNvSpPr>
          <p:nvPr/>
        </p:nvSpPr>
        <p:spPr>
          <a:xfrm>
            <a:off x="323850" y="5162550"/>
            <a:ext cx="561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团队 / 协作 / 客户现场照片（替换此图）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am-path-bg"/>
          <p:cNvSpPr>
            <a:spLocks noGrp="1"/>
          </p:cNvSpPr>
          <p:nvPr/>
        </p:nvSpPr>
        <p:spPr>
          <a:xfrm>
            <a:off x="6238875" y="1381125"/>
            <a:ext cx="5314950" cy="226695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11" name="team-path-header"/>
          <p:cNvSpPr>
            <a:spLocks noGrp="1"/>
          </p:cNvSpPr>
          <p:nvPr/>
        </p:nvSpPr>
        <p:spPr>
          <a:xfrm>
            <a:off x="6353175" y="146685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协同方式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am-path-body"/>
          <p:cNvSpPr>
            <a:spLocks noGrp="1"/>
          </p:cNvSpPr>
          <p:nvPr/>
        </p:nvSpPr>
        <p:spPr>
          <a:xfrm>
            <a:off x="6410325" y="1790700"/>
            <a:ext cx="4972050" cy="1800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一起跑场景：把真实需求讲清楚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共同拆需求：把复杂任务变成可执行步骤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分工做开发：让成员负责真实模块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交叉做测试：在协作中发现问题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交付后复盘：沉淀模板、清单和工具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am-result-bg"/>
          <p:cNvSpPr>
            <a:spLocks noGrp="1"/>
          </p:cNvSpPr>
          <p:nvPr/>
        </p:nvSpPr>
        <p:spPr>
          <a:xfrm>
            <a:off x="6238875" y="3819525"/>
            <a:ext cx="5314950" cy="1571625"/>
          </a:xfrm>
          <a:prstGeom prst="rect">
            <a:avLst/>
          </a:prstGeom>
          <a:solidFill>
            <a:srgbClr val="FFF8F2"/>
          </a:solidFill>
          <a:ln w="0">
            <a:noFill/>
            <a:prstDash val="solid"/>
          </a:ln>
        </p:spPr>
      </p:sp>
      <p:sp>
        <p:nvSpPr>
          <p:cNvPr id="14" name="team-result-header"/>
          <p:cNvSpPr>
            <a:spLocks noGrp="1"/>
          </p:cNvSpPr>
          <p:nvPr/>
        </p:nvSpPr>
        <p:spPr>
          <a:xfrm>
            <a:off x="6353175" y="3905250"/>
            <a:ext cx="1381125" cy="285750"/>
          </a:xfrm>
          <a:prstGeom prst="rightArrow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能力变化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team-result-body"/>
          <p:cNvSpPr>
            <a:spLocks noGrp="1"/>
          </p:cNvSpPr>
          <p:nvPr/>
        </p:nvSpPr>
        <p:spPr>
          <a:xfrm>
            <a:off x="6410325" y="4229100"/>
            <a:ext cx="49720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参与任务 → 独立负责模块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完成开发 → 承担交付和运维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个人做法 → 团队模板、清单和工具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• 单个项目 → 可持续研发与交付能力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am-metrics-line"/>
          <p:cNvSpPr>
            <a:spLocks noGrp="1"/>
          </p:cNvSpPr>
          <p:nvPr/>
        </p:nvSpPr>
        <p:spPr>
          <a:xfrm>
            <a:off x="323850" y="5562600"/>
            <a:ext cx="11229975" cy="95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17" name="team-five-value"/>
          <p:cNvSpPr>
            <a:spLocks noGrp="1"/>
          </p:cNvSpPr>
          <p:nvPr/>
        </p:nvSpPr>
        <p:spPr>
          <a:xfrm>
            <a:off x="1047750" y="56864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5A9C"/>
                </a:solidFill>
                <a:latin typeface="Microsoft YaHei"/>
                <a:ea typeface="Microsoft YaHei"/>
                <a:cs typeface="Microsoft YaHei"/>
              </a:rPr>
              <a:t>5名</a:t>
            </a:r>
            <a:endParaRPr sz="2100" b="1">
              <a:solidFill>
                <a:srgbClr val="0B5A9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am-five-label"/>
          <p:cNvSpPr>
            <a:spLocks noGrp="1"/>
          </p:cNvSpPr>
          <p:nvPr/>
        </p:nvSpPr>
        <p:spPr>
          <a:xfrm>
            <a:off x="1047750" y="60293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可独立承担开发、交付和运维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am-twenty-value"/>
          <p:cNvSpPr>
            <a:spLocks noGrp="1"/>
          </p:cNvSpPr>
          <p:nvPr/>
        </p:nvSpPr>
        <p:spPr>
          <a:xfrm>
            <a:off x="4762500" y="56864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20余项</a:t>
            </a:r>
            <a:endParaRPr sz="210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am-twenty-label"/>
          <p:cNvSpPr>
            <a:spLocks noGrp="1"/>
          </p:cNvSpPr>
          <p:nvPr/>
        </p:nvSpPr>
        <p:spPr>
          <a:xfrm>
            <a:off x="4762500" y="60293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累计建设和支撑数字化项目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team-four-value"/>
          <p:cNvSpPr>
            <a:spLocks noGrp="1"/>
          </p:cNvSpPr>
          <p:nvPr/>
        </p:nvSpPr>
        <p:spPr>
          <a:xfrm>
            <a:off x="8429625" y="56864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“四有”</a:t>
            </a:r>
            <a:endParaRPr sz="2100" b="1">
              <a:solidFill>
                <a:srgbClr val="B779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am-four-label"/>
          <p:cNvSpPr>
            <a:spLocks noGrp="1"/>
          </p:cNvSpPr>
          <p:nvPr/>
        </p:nvSpPr>
        <p:spPr>
          <a:xfrm>
            <a:off x="8429625" y="60293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2025年创新示范班组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90" y="114300"/>
            <a:ext cx="1264370" cy="552450"/>
          </a:xfrm>
          <a:prstGeom prst="rect">
            <a:avLst/>
          </a:prstGeom>
        </p:spPr>
      </p:pic>
      <p:sp>
        <p:nvSpPr>
          <p:cNvPr id="2" name="title-9"/>
          <p:cNvSpPr>
            <a:spLocks noGrp="1"/>
          </p:cNvSpPr>
          <p:nvPr/>
        </p:nvSpPr>
        <p:spPr>
          <a:xfrm>
            <a:off x="1952625" y="114300"/>
            <a:ext cx="962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09  AI赋能培训与团队共创：30余场培训覆盖3000余人次</a:t>
            </a:r>
            <a:endParaRPr sz="19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ule-red-9"/>
          <p:cNvSpPr>
            <a:spLocks noGrp="1"/>
          </p:cNvSpPr>
          <p:nvPr/>
        </p:nvSpPr>
        <p:spPr>
          <a:xfrm>
            <a:off x="266700" y="685800"/>
            <a:ext cx="11658600" cy="381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" name="rule-gold-9"/>
          <p:cNvSpPr>
            <a:spLocks noGrp="1"/>
          </p:cNvSpPr>
          <p:nvPr/>
        </p:nvSpPr>
        <p:spPr>
          <a:xfrm>
            <a:off x="4953000" y="685800"/>
            <a:ext cx="3143250" cy="38100"/>
          </a:xfrm>
          <a:prstGeom prst="rect">
            <a:avLst/>
          </a:prstGeom>
          <a:solidFill>
            <a:srgbClr val="F2B705"/>
          </a:solidFill>
          <a:ln w="0">
            <a:noFill/>
            <a:prstDash val="solid"/>
          </a:ln>
        </p:spPr>
      </p:sp>
      <p:sp>
        <p:nvSpPr>
          <p:cNvPr id="5" name="keyword-9"/>
          <p:cNvSpPr>
            <a:spLocks noGrp="1"/>
          </p:cNvSpPr>
          <p:nvPr/>
        </p:nvSpPr>
        <p:spPr>
          <a:xfrm>
            <a:off x="323850" y="838200"/>
            <a:ext cx="1295400" cy="30480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薪火相传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lead-9"/>
          <p:cNvSpPr>
            <a:spLocks noGrp="1"/>
          </p:cNvSpPr>
          <p:nvPr/>
        </p:nvSpPr>
        <p:spPr>
          <a:xfrm>
            <a:off x="1771650" y="828675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面向全州委办局和公司内部，讲清AI工具怎么选、场景怎么找、结果怎么验证。</a:t>
            </a:r>
            <a:endParaRPr sz="1350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page-9"/>
          <p:cNvSpPr>
            <a:spLocks noGrp="1"/>
          </p:cNvSpPr>
          <p:nvPr/>
        </p:nvSpPr>
        <p:spPr>
          <a:xfrm>
            <a:off x="11477625" y="64674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900">
              <a:solidFill>
                <a:srgbClr val="8A8A8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raining-30-value"/>
          <p:cNvSpPr>
            <a:spLocks noGrp="1"/>
          </p:cNvSpPr>
          <p:nvPr/>
        </p:nvSpPr>
        <p:spPr>
          <a:xfrm>
            <a:off x="1285875" y="1238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30+场</a:t>
            </a:r>
            <a:endParaRPr sz="22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raining-30-label"/>
          <p:cNvSpPr>
            <a:spLocks noGrp="1"/>
          </p:cNvSpPr>
          <p:nvPr/>
        </p:nvSpPr>
        <p:spPr>
          <a:xfrm>
            <a:off x="1285875" y="1581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AI赋能培训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raining-3000-value"/>
          <p:cNvSpPr>
            <a:spLocks noGrp="1"/>
          </p:cNvSpPr>
          <p:nvPr/>
        </p:nvSpPr>
        <p:spPr>
          <a:xfrm>
            <a:off x="4905375" y="1238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3000+人次</a:t>
            </a:r>
            <a:endParaRPr sz="22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raining-3000-label"/>
          <p:cNvSpPr>
            <a:spLocks noGrp="1"/>
          </p:cNvSpPr>
          <p:nvPr/>
        </p:nvSpPr>
        <p:spPr>
          <a:xfrm>
            <a:off x="4905375" y="1581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覆盖委办局和公司内部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raining-700-value"/>
          <p:cNvSpPr>
            <a:spLocks noGrp="1"/>
          </p:cNvSpPr>
          <p:nvPr/>
        </p:nvSpPr>
        <p:spPr>
          <a:xfrm>
            <a:off x="8524875" y="1238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700+人</a:t>
            </a:r>
            <a:endParaRPr sz="2250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raining-700-label"/>
          <p:cNvSpPr>
            <a:spLocks noGrp="1"/>
          </p:cNvSpPr>
          <p:nvPr/>
        </p:nvSpPr>
        <p:spPr>
          <a:xfrm>
            <a:off x="8524875" y="1581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在线编程实训学员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media-title-1"/>
          <p:cNvSpPr>
            <a:spLocks noGrp="1"/>
          </p:cNvSpPr>
          <p:nvPr/>
        </p:nvSpPr>
        <p:spPr>
          <a:xfrm>
            <a:off x="323850" y="2076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AI赋能培训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media-border-1"/>
          <p:cNvSpPr>
            <a:spLocks noGrp="1"/>
          </p:cNvSpPr>
          <p:nvPr/>
        </p:nvSpPr>
        <p:spPr>
          <a:xfrm>
            <a:off x="323850" y="2400300"/>
            <a:ext cx="2647950" cy="1952625"/>
          </a:xfrm>
          <a:prstGeom prst="rect">
            <a:avLst/>
          </a:prstGeom>
          <a:noFill/>
          <a:ln w="9525">
            <a:solidFill>
              <a:srgbClr val="DFB1B1"/>
            </a:solidFill>
            <a:prstDash val="solid"/>
          </a:ln>
        </p:spPr>
      </p:sp>
      <p:sp>
        <p:nvSpPr>
          <p:cNvPr id="17" name="media-caption-1"/>
          <p:cNvSpPr>
            <a:spLocks noGrp="1"/>
          </p:cNvSpPr>
          <p:nvPr/>
        </p:nvSpPr>
        <p:spPr>
          <a:xfrm>
            <a:off x="323850" y="4400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培训 / 实训现场（替换此图）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edia-title-2"/>
          <p:cNvSpPr>
            <a:spLocks noGrp="1"/>
          </p:cNvSpPr>
          <p:nvPr/>
        </p:nvSpPr>
        <p:spPr>
          <a:xfrm>
            <a:off x="3200400" y="2076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AI短片·AIGC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media-border-2"/>
          <p:cNvSpPr>
            <a:spLocks noGrp="1"/>
          </p:cNvSpPr>
          <p:nvPr/>
        </p:nvSpPr>
        <p:spPr>
          <a:xfrm>
            <a:off x="3200400" y="2400300"/>
            <a:ext cx="2647950" cy="1952625"/>
          </a:xfrm>
          <a:prstGeom prst="rect">
            <a:avLst/>
          </a:prstGeom>
          <a:noFill/>
          <a:ln w="9525">
            <a:solidFill>
              <a:srgbClr val="DFB1B1"/>
            </a:solidFill>
            <a:prstDash val="solid"/>
          </a:ln>
        </p:spPr>
      </p:sp>
      <p:sp>
        <p:nvSpPr>
          <p:cNvPr id="21" name="media-caption-2"/>
          <p:cNvSpPr>
            <a:spLocks noGrp="1"/>
          </p:cNvSpPr>
          <p:nvPr/>
        </p:nvSpPr>
        <p:spPr>
          <a:xfrm>
            <a:off x="3200400" y="4400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团队共创成果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media-title-3"/>
          <p:cNvSpPr>
            <a:spLocks noGrp="1"/>
          </p:cNvSpPr>
          <p:nvPr/>
        </p:nvSpPr>
        <p:spPr>
          <a:xfrm>
            <a:off x="6076950" y="2076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media-border-3"/>
          <p:cNvSpPr>
            <a:spLocks noGrp="1"/>
          </p:cNvSpPr>
          <p:nvPr/>
        </p:nvSpPr>
        <p:spPr>
          <a:xfrm>
            <a:off x="6076950" y="2400300"/>
            <a:ext cx="2647950" cy="1952625"/>
          </a:xfrm>
          <a:prstGeom prst="rect">
            <a:avLst/>
          </a:prstGeom>
          <a:noFill/>
          <a:ln w="9525">
            <a:solidFill>
              <a:srgbClr val="DFB1B1"/>
            </a:solidFill>
            <a:prstDash val="solid"/>
          </a:ln>
        </p:spPr>
      </p:sp>
      <p:sp>
        <p:nvSpPr>
          <p:cNvPr id="25" name="media-caption-3"/>
          <p:cNvSpPr>
            <a:spLocks noGrp="1"/>
          </p:cNvSpPr>
          <p:nvPr/>
        </p:nvSpPr>
        <p:spPr>
          <a:xfrm>
            <a:off x="6076950" y="4400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全面用于辅助研发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media-title-4"/>
          <p:cNvSpPr>
            <a:spLocks noGrp="1"/>
          </p:cNvSpPr>
          <p:nvPr/>
        </p:nvSpPr>
        <p:spPr>
          <a:xfrm>
            <a:off x="8953500" y="2076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AI安全测试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media-border-4"/>
          <p:cNvSpPr>
            <a:spLocks noGrp="1"/>
          </p:cNvSpPr>
          <p:nvPr/>
        </p:nvSpPr>
        <p:spPr>
          <a:xfrm>
            <a:off x="8953500" y="2400300"/>
            <a:ext cx="2647950" cy="1952625"/>
          </a:xfrm>
          <a:prstGeom prst="rect">
            <a:avLst/>
          </a:prstGeom>
          <a:noFill/>
          <a:ln w="9525">
            <a:solidFill>
              <a:srgbClr val="DFB1B1"/>
            </a:solidFill>
            <a:prstDash val="solid"/>
          </a:ln>
        </p:spPr>
      </p:sp>
      <p:sp>
        <p:nvSpPr>
          <p:cNvPr id="29" name="media-caption-4"/>
          <p:cNvSpPr>
            <a:spLocks noGrp="1"/>
          </p:cNvSpPr>
          <p:nvPr/>
        </p:nvSpPr>
        <p:spPr>
          <a:xfrm>
            <a:off x="8953500" y="4400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与应用开发同步开展</a:t>
            </a:r>
            <a:endParaRPr sz="1125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raining-method-bg"/>
          <p:cNvSpPr>
            <a:spLocks noGrp="1"/>
          </p:cNvSpPr>
          <p:nvPr/>
        </p:nvSpPr>
        <p:spPr>
          <a:xfrm>
            <a:off x="323850" y="4905375"/>
            <a:ext cx="11220450" cy="1143000"/>
          </a:xfrm>
          <a:prstGeom prst="rect">
            <a:avLst/>
          </a:prstGeom>
          <a:solidFill>
            <a:srgbClr val="F7F4F0"/>
          </a:solidFill>
          <a:ln w="0">
            <a:noFill/>
            <a:prstDash val="solid"/>
          </a:ln>
        </p:spPr>
      </p:sp>
      <p:sp>
        <p:nvSpPr>
          <p:cNvPr id="31" name="training-method-label"/>
          <p:cNvSpPr>
            <a:spLocks noGrp="1"/>
          </p:cNvSpPr>
          <p:nvPr/>
        </p:nvSpPr>
        <p:spPr>
          <a:xfrm>
            <a:off x="438150" y="4991100"/>
            <a:ext cx="1381125" cy="285750"/>
          </a:xfrm>
          <a:prstGeom prst="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经验扩散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raining-method-1-title"/>
          <p:cNvSpPr>
            <a:spLocks noGrp="1"/>
          </p:cNvSpPr>
          <p:nvPr/>
        </p:nvSpPr>
        <p:spPr>
          <a:xfrm>
            <a:off x="2095500" y="5000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课程化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training-method-1-body"/>
          <p:cNvSpPr>
            <a:spLocks noGrp="1"/>
          </p:cNvSpPr>
          <p:nvPr/>
        </p:nvSpPr>
        <p:spPr>
          <a:xfrm>
            <a:off x="2095500" y="52768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把真实项目转成课程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讲清场景、方法和验证过程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raining-method-line-1"/>
          <p:cNvSpPr>
            <a:spLocks noGrp="1"/>
          </p:cNvSpPr>
          <p:nvPr/>
        </p:nvSpPr>
        <p:spPr>
          <a:xfrm>
            <a:off x="5000625" y="5095875"/>
            <a:ext cx="9525" cy="742950"/>
          </a:xfrm>
          <a:prstGeom prst="rect">
            <a:avLst/>
          </a:prstGeom>
          <a:solidFill>
            <a:srgbClr val="D7D7D7"/>
          </a:solidFill>
          <a:ln w="0">
            <a:noFill/>
            <a:prstDash val="solid"/>
          </a:ln>
        </p:spPr>
      </p:sp>
      <p:sp>
        <p:nvSpPr>
          <p:cNvPr id="35" name="training-method-2-title"/>
          <p:cNvSpPr>
            <a:spLocks noGrp="1"/>
          </p:cNvSpPr>
          <p:nvPr/>
        </p:nvSpPr>
        <p:spPr>
          <a:xfrm>
            <a:off x="5238750" y="50006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实训化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raining-method-2-body"/>
          <p:cNvSpPr>
            <a:spLocks noGrp="1"/>
          </p:cNvSpPr>
          <p:nvPr/>
        </p:nvSpPr>
        <p:spPr>
          <a:xfrm>
            <a:off x="5238750" y="52768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搭建在线编程实训平台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让学习者能够边学边做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training-method-line-2"/>
          <p:cNvSpPr>
            <a:spLocks noGrp="1"/>
          </p:cNvSpPr>
          <p:nvPr/>
        </p:nvSpPr>
        <p:spPr>
          <a:xfrm>
            <a:off x="8143875" y="5095875"/>
            <a:ext cx="9525" cy="742950"/>
          </a:xfrm>
          <a:prstGeom prst="rect">
            <a:avLst/>
          </a:prstGeom>
          <a:solidFill>
            <a:srgbClr val="D7D7D7"/>
          </a:solidFill>
          <a:ln w="0">
            <a:noFill/>
            <a:prstDash val="solid"/>
          </a:ln>
        </p:spPr>
      </p:sp>
      <p:sp>
        <p:nvSpPr>
          <p:cNvPr id="38" name="training-method-3-title"/>
          <p:cNvSpPr>
            <a:spLocks noGrp="1"/>
          </p:cNvSpPr>
          <p:nvPr/>
        </p:nvSpPr>
        <p:spPr>
          <a:xfrm>
            <a:off x="8382000" y="50006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80000"/>
                </a:solidFill>
                <a:latin typeface="Microsoft YaHei"/>
                <a:ea typeface="Microsoft YaHei"/>
                <a:cs typeface="Microsoft YaHei"/>
              </a:rPr>
              <a:t>共创化</a:t>
            </a:r>
            <a:endParaRPr sz="1275" b="1">
              <a:solidFill>
                <a:srgbClr val="A8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training-method-3-body"/>
          <p:cNvSpPr>
            <a:spLocks noGrp="1"/>
          </p:cNvSpPr>
          <p:nvPr/>
        </p:nvSpPr>
        <p:spPr>
          <a:xfrm>
            <a:off x="8382000" y="52768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AI短片·AIGC·Vibe Coding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把AI安全测试同步纳入实践</a:t>
            </a:r>
            <a:endParaRPr sz="1275">
              <a:solidFill>
                <a:srgbClr val="171717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72332"/>
            <a:ext cx="12192000" cy="14854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66" y="228600"/>
            <a:ext cx="1395167" cy="609600"/>
          </a:xfrm>
          <a:prstGeom prst="rect">
            <a:avLst/>
          </a:prstGeom>
        </p:spPr>
      </p:pic>
      <p:sp>
        <p:nvSpPr>
          <p:cNvPr id="3" name="closing-line"/>
          <p:cNvSpPr>
            <a:spLocks noGrp="1"/>
          </p:cNvSpPr>
          <p:nvPr/>
        </p:nvSpPr>
        <p:spPr>
          <a:xfrm>
            <a:off x="1428750" y="1952625"/>
            <a:ext cx="9334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把问题解决好，把方法沉淀好，</a:t>
            </a:r>
            <a:endParaRPr sz="21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把个人经验转化为团队能力，</a:t>
            </a:r>
            <a:endParaRPr sz="21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为公司高质量发展贡献更多可复制、可持续的成果。</a:t>
            </a:r>
            <a:endParaRPr sz="2175" b="1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losing-thanks"/>
          <p:cNvSpPr>
            <a:spLocks noGrp="1"/>
          </p:cNvSpPr>
          <p:nvPr/>
        </p:nvSpPr>
        <p:spPr>
          <a:xfrm>
            <a:off x="4191000" y="37147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D6470"/>
                </a:solidFill>
                <a:latin typeface="Microsoft YaHei"/>
                <a:ea typeface="Microsoft YaHei"/>
                <a:cs typeface="Microsoft YaHei"/>
              </a:rPr>
              <a:t>谢谢大家｜汇报人</a:t>
            </a:r>
            <a:endParaRPr sz="1350">
              <a:solidFill>
                <a:srgbClr val="5D647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2743</Words>
  <Application>WPS 演示</Application>
  <PresentationFormat>Converted Presentation</PresentationFormat>
  <Paragraphs>402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Microsoft YaHei</vt:lpstr>
      <vt:lpstr>汉仪旗黑</vt:lpstr>
      <vt:lpstr>汉仪书宋二KW</vt:lpstr>
      <vt:lpstr>Microsoft YaHei</vt:lpstr>
      <vt:lpstr>SimSun</vt:lpstr>
      <vt:lpstr>Arial Unicode MS</vt:lpstr>
      <vt:lpstr>Calibri</vt:lpstr>
      <vt:lpstr>Helvetica Neue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</cp:lastModifiedBy>
  <cp:revision>1</cp:revision>
  <dcterms:created xsi:type="dcterms:W3CDTF">2026-07-23T06:45:54Z</dcterms:created>
  <dcterms:modified xsi:type="dcterms:W3CDTF">2026-07-23T06:45:54Z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6b12c142-e05b-4f6b-b0ba-99921a78d13d","ReservedCode1":"e610f967-415a-4371-8c5e-995cb2ae898d","ContentPropagator":"001191110102MAD55U9H0F10002","PropagateID":"6b12c142-e05b-4f6b-b0ba-99921a78d13d","ReservedCode2":"e610f967-415a-4371-8c5e-995cb2ae898d"}</vt:lpwstr>
  </property>
  <property fmtid="{D5CDD505-2E9C-101B-9397-08002B2CF9AE}" pid="3" name="ICV">
    <vt:lpwstr>644673FCC9AA1879A2B8616A5E6BA896_42</vt:lpwstr>
  </property>
  <property fmtid="{D5CDD505-2E9C-101B-9397-08002B2CF9AE}" pid="4" name="KSOProductBuildVer">
    <vt:lpwstr>2052-12.1.24031.24031</vt:lpwstr>
  </property>
</Properties>
</file>